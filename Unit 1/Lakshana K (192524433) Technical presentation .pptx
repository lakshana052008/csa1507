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7/14/2026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6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221456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780358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6726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788027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4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47212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5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29010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650862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4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95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736400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910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04390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263867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77653934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238645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978228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302045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51546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66008996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72478005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426570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262710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752716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776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image" Target="../media/3.png"/><Relationship Id="rId3" Type="http://schemas.openxmlformats.org/officeDocument/2006/relationships/image" Target="../media/4.png"/><Relationship Id="rId4" Type="http://schemas.openxmlformats.org/officeDocument/2006/relationships/image" Target="../media/5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6.png"/><Relationship Id="rId2" Type="http://schemas.openxmlformats.org/officeDocument/2006/relationships/image" Target="../media/7.png"/><Relationship Id="rId3" Type="http://schemas.openxmlformats.org/officeDocument/2006/relationships/image" Target="../media/8.png"/><Relationship Id="rId4" Type="http://schemas.openxmlformats.org/officeDocument/2006/relationships/image" Target="../media/9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10.png"/><Relationship Id="rId2" Type="http://schemas.openxmlformats.org/officeDocument/2006/relationships/image" Target="../media/11.png"/><Relationship Id="rId3" Type="http://schemas.openxmlformats.org/officeDocument/2006/relationships/image" Target="../media/12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3.png"/><Relationship Id="rId2" Type="http://schemas.openxmlformats.org/officeDocument/2006/relationships/image" Target="../media/14.png"/><Relationship Id="rId3" Type="http://schemas.openxmlformats.org/officeDocument/2006/relationships/image" Target="../media/15.png"/><Relationship Id="rId4" Type="http://schemas.openxmlformats.org/officeDocument/2006/relationships/image" Target="../media/16.png"/><Relationship Id="rId5" Type="http://schemas.openxmlformats.org/officeDocument/2006/relationships/image" Target="../media/17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18.png"/><Relationship Id="rId2" Type="http://schemas.openxmlformats.org/officeDocument/2006/relationships/image" Target="../media/19.png"/><Relationship Id="rId3" Type="http://schemas.openxmlformats.org/officeDocument/2006/relationships/image" Target="../media/20.png"/><Relationship Id="rId4" Type="http://schemas.openxmlformats.org/officeDocument/2006/relationships/image" Target="../media/21.png"/><Relationship Id="rId5" Type="http://schemas.openxmlformats.org/officeDocument/2006/relationships/image" Target="../media/22.png"/><Relationship Id="rId6" Type="http://schemas.openxmlformats.org/officeDocument/2006/relationships/image" Target="../media/23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2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25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"/>
          <p:cNvSpPr>
            <a:spLocks/>
          </p:cNvSpPr>
          <p:nvPr/>
        </p:nvSpPr>
        <p:spPr>
          <a:xfrm rot="0">
            <a:off x="9418320" y="-1188720"/>
            <a:ext cx="4206238" cy="4206240"/>
          </a:xfrm>
          <a:prstGeom prst="ellipse"/>
          <a:solidFill>
            <a:srgbClr val="065A82">
              <a:alpha val="45000"/>
            </a:srgbClr>
          </a:solidFill>
          <a:ln w="12700" cmpd="sng" cap="flat">
            <a:noFill/>
            <a:prstDash val="solid"/>
            <a:miter/>
          </a:ln>
        </p:spPr>
      </p:sp>
      <p:sp>
        <p:nvSpPr>
          <p:cNvPr id="9" name="椭圆"/>
          <p:cNvSpPr>
            <a:spLocks/>
          </p:cNvSpPr>
          <p:nvPr/>
        </p:nvSpPr>
        <p:spPr>
          <a:xfrm rot="0">
            <a:off x="10607040" y="4206240"/>
            <a:ext cx="2743200" cy="2743198"/>
          </a:xfrm>
          <a:prstGeom prst="ellipse"/>
          <a:solidFill>
            <a:srgbClr val="1C7293">
              <a:alpha val="45000"/>
            </a:srgbClr>
          </a:solidFill>
          <a:ln w="12700" cmpd="sng" cap="flat">
            <a:noFill/>
            <a:prstDash val="solid"/>
            <a:miter/>
          </a:ln>
        </p:spPr>
      </p:sp>
      <p:sp>
        <p:nvSpPr>
          <p:cNvPr id="10" name="椭圆"/>
          <p:cNvSpPr>
            <a:spLocks/>
          </p:cNvSpPr>
          <p:nvPr/>
        </p:nvSpPr>
        <p:spPr>
          <a:xfrm rot="0">
            <a:off x="640080" y="594360"/>
            <a:ext cx="960120" cy="960118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1" name="图片" descr="/home/claude/aiml_cloud/icon_cloud_whit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41248" y="795528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" name="矩形"/>
          <p:cNvSpPr>
            <a:spLocks/>
          </p:cNvSpPr>
          <p:nvPr/>
        </p:nvSpPr>
        <p:spPr>
          <a:xfrm rot="0">
            <a:off x="1812397" y="1588781"/>
            <a:ext cx="9875520" cy="1920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The Role of Artificial Intelligence</a:t>
            </a:r>
            <a:endParaRPr lang="en-US" altLang="zh-CN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and Machine Learning in Cloud Platforms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1992609" y="3886210"/>
            <a:ext cx="8778240" cy="118871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Objective:  </a:t>
            </a:r>
            <a:r>
              <a:rPr lang="en-US" altLang="zh-CN" sz="1500" b="0" i="0" u="none" strike="noStrike" kern="1200" cap="none" spc="0" baseline="0">
                <a:solidFill>
                  <a:srgbClr val="D7E4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 examine how AI and ML capabilities are delivered as cloud services, understand the underlying architecture, and evaluate their impact across industries through a practical example.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11521440" y="6473951"/>
            <a:ext cx="457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FB4C7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8719778" y="5449350"/>
            <a:ext cx="2999758" cy="891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Presented by:</a:t>
            </a:r>
            <a:endParaRPr lang="en-US" altLang="zh-CN" sz="1800" b="0" i="0" u="none" strike="noStrike" kern="1200" cap="none" spc="0" baseline="0">
              <a:solidFill>
                <a:srgbClr val="FFFFFF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He</a:t>
            </a: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malatha.C(192524475)</a:t>
            </a:r>
            <a:endParaRPr lang="en-US" altLang="zh-CN" sz="1800" b="0" i="0" u="none" strike="noStrike" kern="1200" cap="none" spc="0" baseline="0">
              <a:solidFill>
                <a:srgbClr val="FFFFFF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Lakshana.K(192524433)</a:t>
            </a:r>
            <a:endParaRPr lang="zh-CN" altLang="en-US" sz="1800" b="0" i="0" u="none" strike="noStrike" kern="1200" cap="none" spc="0" baseline="0">
              <a:solidFill>
                <a:srgbClr val="FFFFFF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12" name="文本框"/>
          <p:cNvSpPr txBox="1">
            <a:spLocks/>
          </p:cNvSpPr>
          <p:nvPr/>
        </p:nvSpPr>
        <p:spPr>
          <a:xfrm rot="0">
            <a:off x="604601" y="5582698"/>
            <a:ext cx="2598700" cy="6248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Guided by:</a:t>
            </a:r>
            <a:endParaRPr lang="en-US" altLang="zh-CN" sz="1800" b="0" i="0" u="none" strike="noStrike" kern="1200" cap="none" spc="0" baseline="0">
              <a:solidFill>
                <a:srgbClr val="FFFFFF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   Dr.C.Anuradha</a:t>
            </a:r>
            <a:endParaRPr lang="zh-CN" altLang="en-US" sz="1800" b="0" i="0" u="none" strike="noStrike" kern="1200" cap="none" spc="0" baseline="0">
              <a:solidFill>
                <a:srgbClr val="FFFFFF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20784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"/>
          <p:cNvSpPr>
            <a:spLocks/>
          </p:cNvSpPr>
          <p:nvPr/>
        </p:nvSpPr>
        <p:spPr>
          <a:xfrm rot="0">
            <a:off x="548640" y="411480"/>
            <a:ext cx="91440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What Is AI/ML in the Cloud?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圆角矩形"/>
          <p:cNvSpPr>
            <a:spLocks/>
          </p:cNvSpPr>
          <p:nvPr/>
        </p:nvSpPr>
        <p:spPr>
          <a:xfrm rot="0">
            <a:off x="548640" y="1600200"/>
            <a:ext cx="10881359" cy="1170432"/>
          </a:xfrm>
          <a:prstGeom prst="roundRect">
            <a:avLst>
              <a:gd name="adj" fmla="val 6250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1A1A1A">
                <a:alpha val="11764"/>
              </a:srgbClr>
            </a:outerShdw>
          </a:effectLst>
        </p:spPr>
      </p:sp>
      <p:sp>
        <p:nvSpPr>
          <p:cNvPr id="20" name="椭圆"/>
          <p:cNvSpPr>
            <a:spLocks/>
          </p:cNvSpPr>
          <p:nvPr/>
        </p:nvSpPr>
        <p:spPr>
          <a:xfrm rot="0">
            <a:off x="868680" y="1837944"/>
            <a:ext cx="694944" cy="694943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21" name="图片" descr="/home/claude/aiml_cloud/icon_brain_whit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42416" y="2002536"/>
            <a:ext cx="347472" cy="34747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2" name="矩形"/>
          <p:cNvSpPr>
            <a:spLocks/>
          </p:cNvSpPr>
          <p:nvPr/>
        </p:nvSpPr>
        <p:spPr>
          <a:xfrm rot="0">
            <a:off x="1828800" y="1709928"/>
            <a:ext cx="9052561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Artificial Intelligence (AI)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1828800" y="2075688"/>
            <a:ext cx="9052561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simulation of human-like reasoning in machines — enabling systems to perceive, decide, and act.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" name="圆角矩形"/>
          <p:cNvSpPr>
            <a:spLocks/>
          </p:cNvSpPr>
          <p:nvPr/>
        </p:nvSpPr>
        <p:spPr>
          <a:xfrm rot="0">
            <a:off x="548640" y="2935223"/>
            <a:ext cx="10881359" cy="1170432"/>
          </a:xfrm>
          <a:prstGeom prst="roundRect">
            <a:avLst>
              <a:gd name="adj" fmla="val 6250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1A1A1A">
                <a:alpha val="11764"/>
              </a:srgbClr>
            </a:outerShdw>
          </a:effectLst>
        </p:spPr>
      </p:sp>
      <p:sp>
        <p:nvSpPr>
          <p:cNvPr id="25" name="椭圆"/>
          <p:cNvSpPr>
            <a:spLocks/>
          </p:cNvSpPr>
          <p:nvPr/>
        </p:nvSpPr>
        <p:spPr>
          <a:xfrm rot="0">
            <a:off x="868680" y="3172968"/>
            <a:ext cx="694944" cy="694944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26" name="图片" descr="/home/claude/aiml_cloud/icon_cogs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42416" y="3337560"/>
            <a:ext cx="347472" cy="34747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7" name="矩形"/>
          <p:cNvSpPr>
            <a:spLocks/>
          </p:cNvSpPr>
          <p:nvPr/>
        </p:nvSpPr>
        <p:spPr>
          <a:xfrm rot="0">
            <a:off x="1828800" y="3044952"/>
            <a:ext cx="9052561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Machine Learning (ML)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1828800" y="3410712"/>
            <a:ext cx="9052561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subset of AI where algorithms learn patterns from data and improve performance without being explicitly programmed.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圆角矩形"/>
          <p:cNvSpPr>
            <a:spLocks/>
          </p:cNvSpPr>
          <p:nvPr/>
        </p:nvSpPr>
        <p:spPr>
          <a:xfrm rot="0">
            <a:off x="548640" y="4270248"/>
            <a:ext cx="10881359" cy="1170432"/>
          </a:xfrm>
          <a:prstGeom prst="roundRect">
            <a:avLst>
              <a:gd name="adj" fmla="val 6250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1A1A1A">
                <a:alpha val="11764"/>
              </a:srgbClr>
            </a:outerShdw>
          </a:effectLst>
        </p:spPr>
      </p:sp>
      <p:sp>
        <p:nvSpPr>
          <p:cNvPr id="30" name="椭圆"/>
          <p:cNvSpPr>
            <a:spLocks/>
          </p:cNvSpPr>
          <p:nvPr/>
        </p:nvSpPr>
        <p:spPr>
          <a:xfrm rot="0">
            <a:off x="868680" y="4507992"/>
            <a:ext cx="694944" cy="694943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31" name="图片" descr="/home/claude/aiml_cloud/icon_cloud_whi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042416" y="4672584"/>
            <a:ext cx="347472" cy="34747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2" name="矩形"/>
          <p:cNvSpPr>
            <a:spLocks/>
          </p:cNvSpPr>
          <p:nvPr/>
        </p:nvSpPr>
        <p:spPr>
          <a:xfrm rot="0">
            <a:off x="1828800" y="4379976"/>
            <a:ext cx="9052561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Cloud Computing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1828800" y="4745736"/>
            <a:ext cx="9052561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On-demand delivery of computing power, storage, and services over the internet, billed on usage.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圆角矩形"/>
          <p:cNvSpPr>
            <a:spLocks/>
          </p:cNvSpPr>
          <p:nvPr/>
        </p:nvSpPr>
        <p:spPr>
          <a:xfrm rot="0">
            <a:off x="548640" y="5605272"/>
            <a:ext cx="10881359" cy="1170432"/>
          </a:xfrm>
          <a:prstGeom prst="roundRect">
            <a:avLst>
              <a:gd name="adj" fmla="val 6250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76200" dist="25400" dir="5400000">
              <a:srgbClr val="1A1A1A">
                <a:alpha val="11764"/>
              </a:srgbClr>
            </a:outerShdw>
          </a:effectLst>
        </p:spPr>
      </p:sp>
      <p:sp>
        <p:nvSpPr>
          <p:cNvPr id="35" name="椭圆"/>
          <p:cNvSpPr>
            <a:spLocks/>
          </p:cNvSpPr>
          <p:nvPr/>
        </p:nvSpPr>
        <p:spPr>
          <a:xfrm rot="0">
            <a:off x="868680" y="5843016"/>
            <a:ext cx="694944" cy="694944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36" name="图片" descr="/home/claude/aiml_cloud/icon_network_whit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042416" y="6007608"/>
            <a:ext cx="347472" cy="34747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7" name="矩形"/>
          <p:cNvSpPr>
            <a:spLocks/>
          </p:cNvSpPr>
          <p:nvPr/>
        </p:nvSpPr>
        <p:spPr>
          <a:xfrm rot="0">
            <a:off x="1828800" y="5715000"/>
            <a:ext cx="9052561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AI/ML Cloud Services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矩形"/>
          <p:cNvSpPr>
            <a:spLocks/>
          </p:cNvSpPr>
          <p:nvPr/>
        </p:nvSpPr>
        <p:spPr>
          <a:xfrm rot="0">
            <a:off x="1828800" y="6080760"/>
            <a:ext cx="9052561" cy="5943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Managed platforms (e.g., training, hosting, APIs) that let organizations build and run AI/ML models without owning hardware.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11521440" y="6473951"/>
            <a:ext cx="457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6B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3162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 rot="0">
            <a:off x="548640" y="411480"/>
            <a:ext cx="10515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Why the Cloud Powers Modern AI/ML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圆角矩形"/>
          <p:cNvSpPr>
            <a:spLocks/>
          </p:cNvSpPr>
          <p:nvPr/>
        </p:nvSpPr>
        <p:spPr>
          <a:xfrm rot="0">
            <a:off x="548640" y="1600200"/>
            <a:ext cx="3291840" cy="4434838"/>
          </a:xfrm>
          <a:prstGeom prst="roundRect">
            <a:avLst>
              <a:gd name="adj" fmla="val 2777"/>
            </a:avLst>
          </a:prstGeom>
          <a:solidFill>
            <a:srgbClr val="21295C"/>
          </a:solidFill>
          <a:ln w="12700" cmpd="sng" cap="flat">
            <a:noFill/>
            <a:prstDash val="solid"/>
            <a:miter/>
          </a:ln>
        </p:spPr>
      </p:sp>
      <p:sp>
        <p:nvSpPr>
          <p:cNvPr id="44" name="矩形"/>
          <p:cNvSpPr>
            <a:spLocks/>
          </p:cNvSpPr>
          <p:nvPr/>
        </p:nvSpPr>
        <p:spPr>
          <a:xfrm rot="0">
            <a:off x="731520" y="2286000"/>
            <a:ext cx="2926080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1" i="0" u="none" strike="noStrike" kern="1200" cap="none" spc="0" baseline="0">
                <a:solidFill>
                  <a:srgbClr val="F2A54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90%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822960" y="3246120"/>
            <a:ext cx="2743200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E4EC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of enterprises now run at least one AI/ML workload on a public cloud platform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直线"/>
          <p:cNvSpPr>
            <a:spLocks/>
          </p:cNvSpPr>
          <p:nvPr/>
        </p:nvSpPr>
        <p:spPr>
          <a:xfrm rot="0">
            <a:off x="1005839" y="4617720"/>
            <a:ext cx="2194560" cy="0"/>
          </a:xfrm>
          <a:prstGeom prst="line"/>
          <a:noFill/>
          <a:ln w="19050" cmpd="sng" cap="flat">
            <a:solidFill>
              <a:srgbClr val="1C7293"/>
            </a:solidFill>
            <a:prstDash val="solid"/>
            <a:round/>
          </a:ln>
        </p:spPr>
      </p:sp>
      <p:sp>
        <p:nvSpPr>
          <p:cNvPr id="47" name="矩形"/>
          <p:cNvSpPr>
            <a:spLocks/>
          </p:cNvSpPr>
          <p:nvPr/>
        </p:nvSpPr>
        <p:spPr>
          <a:xfrm rot="0">
            <a:off x="822960" y="5349239"/>
            <a:ext cx="27432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1" u="none" strike="noStrike" kern="1200" cap="none" spc="0" baseline="0">
                <a:solidFill>
                  <a:srgbClr val="9FB4C7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Illustrative industry estimate, cloud/AI reports 2024–2025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圆角矩形"/>
          <p:cNvSpPr>
            <a:spLocks/>
          </p:cNvSpPr>
          <p:nvPr/>
        </p:nvSpPr>
        <p:spPr>
          <a:xfrm rot="0">
            <a:off x="4160520" y="1600200"/>
            <a:ext cx="3520438" cy="2084832"/>
          </a:xfrm>
          <a:prstGeom prst="roundRect">
            <a:avLst>
              <a:gd name="adj" fmla="val 3509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49" name="椭圆"/>
          <p:cNvSpPr>
            <a:spLocks/>
          </p:cNvSpPr>
          <p:nvPr/>
        </p:nvSpPr>
        <p:spPr>
          <a:xfrm rot="0">
            <a:off x="4389120" y="1828800"/>
            <a:ext cx="548640" cy="54864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50" name="图片" descr="/home/claude/aiml_cloud/icon_server_whit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526280" y="1965960"/>
            <a:ext cx="274320" cy="27431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1" name="矩形"/>
          <p:cNvSpPr>
            <a:spLocks/>
          </p:cNvSpPr>
          <p:nvPr/>
        </p:nvSpPr>
        <p:spPr>
          <a:xfrm rot="0">
            <a:off x="4389120" y="2514600"/>
            <a:ext cx="306323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Elastic Compute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矩形"/>
          <p:cNvSpPr>
            <a:spLocks/>
          </p:cNvSpPr>
          <p:nvPr/>
        </p:nvSpPr>
        <p:spPr>
          <a:xfrm rot="0">
            <a:off x="4389120" y="2880360"/>
            <a:ext cx="3063239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GPU/TPU power scales up for training, down for inference — pay only for what's used.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圆角矩形"/>
          <p:cNvSpPr>
            <a:spLocks/>
          </p:cNvSpPr>
          <p:nvPr/>
        </p:nvSpPr>
        <p:spPr>
          <a:xfrm rot="0">
            <a:off x="7863840" y="1600200"/>
            <a:ext cx="3520440" cy="2084832"/>
          </a:xfrm>
          <a:prstGeom prst="roundRect">
            <a:avLst>
              <a:gd name="adj" fmla="val 3509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54" name="椭圆"/>
          <p:cNvSpPr>
            <a:spLocks/>
          </p:cNvSpPr>
          <p:nvPr/>
        </p:nvSpPr>
        <p:spPr>
          <a:xfrm rot="0">
            <a:off x="8092440" y="1828800"/>
            <a:ext cx="548640" cy="54864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55" name="图片" descr="/home/claude/aiml_cloud/icon_database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8229600" y="1965960"/>
            <a:ext cx="274319" cy="27431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6" name="矩形"/>
          <p:cNvSpPr>
            <a:spLocks/>
          </p:cNvSpPr>
          <p:nvPr/>
        </p:nvSpPr>
        <p:spPr>
          <a:xfrm rot="0">
            <a:off x="8092440" y="2514600"/>
            <a:ext cx="306323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Gravity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8092440" y="2880360"/>
            <a:ext cx="3063239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Enterprise data already lives in the cloud, minimizing costly movement for training.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圆角矩形"/>
          <p:cNvSpPr>
            <a:spLocks/>
          </p:cNvSpPr>
          <p:nvPr/>
        </p:nvSpPr>
        <p:spPr>
          <a:xfrm rot="0">
            <a:off x="4160520" y="3867912"/>
            <a:ext cx="3520438" cy="2084831"/>
          </a:xfrm>
          <a:prstGeom prst="roundRect">
            <a:avLst>
              <a:gd name="adj" fmla="val 3509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59" name="椭圆"/>
          <p:cNvSpPr>
            <a:spLocks/>
          </p:cNvSpPr>
          <p:nvPr/>
        </p:nvSpPr>
        <p:spPr>
          <a:xfrm rot="0">
            <a:off x="4389120" y="4096511"/>
            <a:ext cx="548640" cy="548638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60" name="图片" descr="/home/claude/aiml_cloud/icon_chart_whi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526280" y="4233672"/>
            <a:ext cx="274320" cy="27432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1" name="矩形"/>
          <p:cNvSpPr>
            <a:spLocks/>
          </p:cNvSpPr>
          <p:nvPr/>
        </p:nvSpPr>
        <p:spPr>
          <a:xfrm rot="0">
            <a:off x="4389120" y="4782312"/>
            <a:ext cx="3063239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Faster Time-to-Value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" name="矩形"/>
          <p:cNvSpPr>
            <a:spLocks/>
          </p:cNvSpPr>
          <p:nvPr/>
        </p:nvSpPr>
        <p:spPr>
          <a:xfrm rot="0">
            <a:off x="4389120" y="5148072"/>
            <a:ext cx="3063239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Managed ML platforms cut infrastructure setup from months to days.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" name="圆角矩形"/>
          <p:cNvSpPr>
            <a:spLocks/>
          </p:cNvSpPr>
          <p:nvPr/>
        </p:nvSpPr>
        <p:spPr>
          <a:xfrm rot="0">
            <a:off x="7863840" y="3867912"/>
            <a:ext cx="3520440" cy="2084831"/>
          </a:xfrm>
          <a:prstGeom prst="roundRect">
            <a:avLst>
              <a:gd name="adj" fmla="val 3509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64" name="椭圆"/>
          <p:cNvSpPr>
            <a:spLocks/>
          </p:cNvSpPr>
          <p:nvPr/>
        </p:nvSpPr>
        <p:spPr>
          <a:xfrm rot="0">
            <a:off x="8092440" y="4096511"/>
            <a:ext cx="548640" cy="548638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65" name="图片" descr="/home/claude/aiml_cloud/icon_shield_whit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229600" y="4233672"/>
            <a:ext cx="274319" cy="27432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6" name="矩形"/>
          <p:cNvSpPr>
            <a:spLocks/>
          </p:cNvSpPr>
          <p:nvPr/>
        </p:nvSpPr>
        <p:spPr>
          <a:xfrm rot="0">
            <a:off x="8092440" y="4782312"/>
            <a:ext cx="3063239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Built-in Governance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8092440" y="5148072"/>
            <a:ext cx="3063239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Security, compliance, and monitoring tools are integrated by the provider.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 rot="0">
            <a:off x="11521440" y="6473951"/>
            <a:ext cx="457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6B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43399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"/>
          <p:cNvSpPr>
            <a:spLocks/>
          </p:cNvSpPr>
          <p:nvPr/>
        </p:nvSpPr>
        <p:spPr>
          <a:xfrm rot="0">
            <a:off x="548640" y="411480"/>
            <a:ext cx="10515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Core AI/ML Cloud Service Layers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" name="圆角矩形"/>
          <p:cNvSpPr>
            <a:spLocks/>
          </p:cNvSpPr>
          <p:nvPr/>
        </p:nvSpPr>
        <p:spPr>
          <a:xfrm rot="0">
            <a:off x="1234440" y="1828800"/>
            <a:ext cx="9692640" cy="1234440"/>
          </a:xfrm>
          <a:prstGeom prst="roundRect">
            <a:avLst>
              <a:gd name="adj" fmla="val 6666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sp>
        <p:nvSpPr>
          <p:cNvPr id="73" name="椭圆"/>
          <p:cNvSpPr>
            <a:spLocks/>
          </p:cNvSpPr>
          <p:nvPr/>
        </p:nvSpPr>
        <p:spPr>
          <a:xfrm rot="0">
            <a:off x="1508758" y="2135124"/>
            <a:ext cx="621791" cy="621791"/>
          </a:xfrm>
          <a:prstGeom prst="ellipse"/>
          <a:solidFill>
            <a:srgbClr val="FFFFFF"/>
          </a:solidFill>
          <a:ln w="12700" cmpd="sng" cap="flat">
            <a:noFill/>
            <a:prstDash val="solid"/>
            <a:miter/>
          </a:ln>
        </p:spPr>
      </p:sp>
      <p:pic>
        <p:nvPicPr>
          <p:cNvPr id="74" name="图片" descr="/home/claude/aiml_cloud/icon_robot_deep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55063" y="2281428"/>
            <a:ext cx="329184" cy="32918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5" name="矩形"/>
          <p:cNvSpPr>
            <a:spLocks/>
          </p:cNvSpPr>
          <p:nvPr/>
        </p:nvSpPr>
        <p:spPr>
          <a:xfrm rot="0">
            <a:off x="2331720" y="1975103"/>
            <a:ext cx="38404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AI APIs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" name="矩形"/>
          <p:cNvSpPr>
            <a:spLocks/>
          </p:cNvSpPr>
          <p:nvPr/>
        </p:nvSpPr>
        <p:spPr>
          <a:xfrm rot="0">
            <a:off x="2331720" y="2404872"/>
            <a:ext cx="402335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1" u="none" strike="noStrike" kern="1200" cap="none" spc="0" baseline="0">
                <a:solidFill>
                  <a:srgbClr val="E4EC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Pre-trained, ready to call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6355080" y="1828800"/>
            <a:ext cx="4206240" cy="1234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Vision, speech, translation, NLP endpoints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 rot="0">
            <a:off x="5715000" y="3044952"/>
            <a:ext cx="457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6B728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▼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" name="圆角矩形"/>
          <p:cNvSpPr>
            <a:spLocks/>
          </p:cNvSpPr>
          <p:nvPr/>
        </p:nvSpPr>
        <p:spPr>
          <a:xfrm rot="0">
            <a:off x="1234440" y="3291840"/>
            <a:ext cx="9692640" cy="1234440"/>
          </a:xfrm>
          <a:prstGeom prst="roundRect">
            <a:avLst>
              <a:gd name="adj" fmla="val 6666"/>
            </a:avLst>
          </a:prstGeom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sp>
        <p:nvSpPr>
          <p:cNvPr id="80" name="椭圆"/>
          <p:cNvSpPr>
            <a:spLocks/>
          </p:cNvSpPr>
          <p:nvPr/>
        </p:nvSpPr>
        <p:spPr>
          <a:xfrm rot="0">
            <a:off x="1508758" y="3598164"/>
            <a:ext cx="621791" cy="621792"/>
          </a:xfrm>
          <a:prstGeom prst="ellipse"/>
          <a:solidFill>
            <a:srgbClr val="FFFFFF"/>
          </a:solidFill>
          <a:ln w="12700" cmpd="sng" cap="flat">
            <a:noFill/>
            <a:prstDash val="solid"/>
            <a:miter/>
          </a:ln>
        </p:spPr>
      </p:sp>
      <p:pic>
        <p:nvPicPr>
          <p:cNvPr id="81" name="图片" descr="/home/claude/aiml_cloud/icon_cogs_dee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655063" y="3744468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2" name="矩形"/>
          <p:cNvSpPr>
            <a:spLocks/>
          </p:cNvSpPr>
          <p:nvPr/>
        </p:nvSpPr>
        <p:spPr>
          <a:xfrm rot="0">
            <a:off x="2331720" y="3438144"/>
            <a:ext cx="3840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ML Platforms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 rot="0">
            <a:off x="2331720" y="3867912"/>
            <a:ext cx="402335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1" u="none" strike="noStrike" kern="1200" cap="none" spc="0" baseline="0">
                <a:solidFill>
                  <a:srgbClr val="E4EC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Build, train, deploy custom models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6355080" y="3291840"/>
            <a:ext cx="4206240" cy="1234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AWS SageMaker · Azure ML · Vertex AI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5715000" y="4507992"/>
            <a:ext cx="457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6B728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▼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6" name="圆角矩形"/>
          <p:cNvSpPr>
            <a:spLocks/>
          </p:cNvSpPr>
          <p:nvPr/>
        </p:nvSpPr>
        <p:spPr>
          <a:xfrm rot="0">
            <a:off x="1234440" y="4754880"/>
            <a:ext cx="9692640" cy="1234438"/>
          </a:xfrm>
          <a:prstGeom prst="roundRect">
            <a:avLst>
              <a:gd name="adj" fmla="val 6666"/>
            </a:avLst>
          </a:prstGeom>
          <a:solidFill>
            <a:srgbClr val="21295C"/>
          </a:solidFill>
          <a:ln w="12700" cmpd="sng" cap="flat">
            <a:noFill/>
            <a:prstDash val="solid"/>
            <a:miter/>
          </a:ln>
        </p:spPr>
      </p:sp>
      <p:sp>
        <p:nvSpPr>
          <p:cNvPr id="87" name="椭圆"/>
          <p:cNvSpPr>
            <a:spLocks/>
          </p:cNvSpPr>
          <p:nvPr/>
        </p:nvSpPr>
        <p:spPr>
          <a:xfrm rot="0">
            <a:off x="1508758" y="5061204"/>
            <a:ext cx="621791" cy="621792"/>
          </a:xfrm>
          <a:prstGeom prst="ellipse"/>
          <a:solidFill>
            <a:srgbClr val="FFFFFF"/>
          </a:solidFill>
          <a:ln w="12700" cmpd="sng" cap="flat">
            <a:noFill/>
            <a:prstDash val="solid"/>
            <a:miter/>
          </a:ln>
        </p:spPr>
      </p:sp>
      <p:pic>
        <p:nvPicPr>
          <p:cNvPr id="88" name="图片" descr="/home/claude/aiml_cloud/icon_server_dee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655063" y="5207508"/>
            <a:ext cx="329184" cy="32918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9" name="矩形"/>
          <p:cNvSpPr>
            <a:spLocks/>
          </p:cNvSpPr>
          <p:nvPr/>
        </p:nvSpPr>
        <p:spPr>
          <a:xfrm rot="0">
            <a:off x="2331720" y="4901182"/>
            <a:ext cx="38404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Compute &amp; Data Infra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0" name="矩形"/>
          <p:cNvSpPr>
            <a:spLocks/>
          </p:cNvSpPr>
          <p:nvPr/>
        </p:nvSpPr>
        <p:spPr>
          <a:xfrm rot="0">
            <a:off x="2331720" y="5330951"/>
            <a:ext cx="4023359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1" u="none" strike="noStrike" kern="1200" cap="none" spc="0" baseline="0">
                <a:solidFill>
                  <a:srgbClr val="E4EC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GPUs, storage, pipelines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矩形"/>
          <p:cNvSpPr>
            <a:spLocks/>
          </p:cNvSpPr>
          <p:nvPr/>
        </p:nvSpPr>
        <p:spPr>
          <a:xfrm rot="0">
            <a:off x="6355080" y="4754880"/>
            <a:ext cx="4206240" cy="12344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EC2/GPU instances, S3, BigQuery, data lakes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2" name="矩形"/>
          <p:cNvSpPr>
            <a:spLocks/>
          </p:cNvSpPr>
          <p:nvPr/>
        </p:nvSpPr>
        <p:spPr>
          <a:xfrm rot="0">
            <a:off x="548640" y="6126478"/>
            <a:ext cx="10058401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6B728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Higher layers trade flexibility for speed; lower layers trade speed for control.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 rot="0">
            <a:off x="11521440" y="6473951"/>
            <a:ext cx="457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6B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06257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"/>
          <p:cNvSpPr>
            <a:spLocks/>
          </p:cNvSpPr>
          <p:nvPr/>
        </p:nvSpPr>
        <p:spPr>
          <a:xfrm rot="0">
            <a:off x="548640" y="365760"/>
            <a:ext cx="10515600" cy="6400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End-to-End AI/ML Cloud Architecture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圆角矩形"/>
          <p:cNvSpPr>
            <a:spLocks/>
          </p:cNvSpPr>
          <p:nvPr/>
        </p:nvSpPr>
        <p:spPr>
          <a:xfrm rot="0">
            <a:off x="745235" y="2103120"/>
            <a:ext cx="1737360" cy="2285998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38100" dir="5400000">
              <a:srgbClr val="000000">
                <a:alpha val="24705"/>
              </a:srgbClr>
            </a:outerShdw>
          </a:effectLst>
        </p:spPr>
      </p:sp>
      <p:sp>
        <p:nvSpPr>
          <p:cNvPr id="98" name="椭圆"/>
          <p:cNvSpPr>
            <a:spLocks/>
          </p:cNvSpPr>
          <p:nvPr/>
        </p:nvSpPr>
        <p:spPr>
          <a:xfrm rot="0">
            <a:off x="1202436" y="2377440"/>
            <a:ext cx="822960" cy="822960"/>
          </a:xfrm>
          <a:prstGeom prst="ellipse"/>
          <a:solidFill>
            <a:srgbClr val="FFFFFF"/>
          </a:solidFill>
          <a:ln w="12700" cmpd="sng" cap="flat">
            <a:noFill/>
            <a:prstDash val="solid"/>
            <a:miter/>
          </a:ln>
        </p:spPr>
      </p:sp>
      <p:pic>
        <p:nvPicPr>
          <p:cNvPr id="99" name="图片" descr="/home/claude/aiml_cloud/icon_database_deep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385316" y="25603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0" name="矩形"/>
          <p:cNvSpPr>
            <a:spLocks/>
          </p:cNvSpPr>
          <p:nvPr/>
        </p:nvSpPr>
        <p:spPr>
          <a:xfrm rot="0">
            <a:off x="790955" y="3337560"/>
            <a:ext cx="164592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Ingestion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1" name="矩形"/>
          <p:cNvSpPr>
            <a:spLocks/>
          </p:cNvSpPr>
          <p:nvPr/>
        </p:nvSpPr>
        <p:spPr>
          <a:xfrm rot="0">
            <a:off x="790955" y="3977640"/>
            <a:ext cx="16459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1" u="none" strike="noStrike" kern="1200" cap="none" spc="0" baseline="0">
                <a:solidFill>
                  <a:srgbClr val="CFE3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Storage, lakes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矩形"/>
          <p:cNvSpPr>
            <a:spLocks/>
          </p:cNvSpPr>
          <p:nvPr/>
        </p:nvSpPr>
        <p:spPr>
          <a:xfrm rot="0">
            <a:off x="2098548" y="2057400"/>
            <a:ext cx="347471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3" name="矩形"/>
          <p:cNvSpPr>
            <a:spLocks/>
          </p:cNvSpPr>
          <p:nvPr/>
        </p:nvSpPr>
        <p:spPr>
          <a:xfrm rot="0">
            <a:off x="2510028" y="3017519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➜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圆角矩形"/>
          <p:cNvSpPr>
            <a:spLocks/>
          </p:cNvSpPr>
          <p:nvPr/>
        </p:nvSpPr>
        <p:spPr>
          <a:xfrm rot="0">
            <a:off x="2985516" y="2103120"/>
            <a:ext cx="1737360" cy="2285998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38100" dir="5400000">
              <a:srgbClr val="000000">
                <a:alpha val="24705"/>
              </a:srgbClr>
            </a:outerShdw>
          </a:effectLst>
        </p:spPr>
      </p:sp>
      <p:sp>
        <p:nvSpPr>
          <p:cNvPr id="105" name="椭圆"/>
          <p:cNvSpPr>
            <a:spLocks/>
          </p:cNvSpPr>
          <p:nvPr/>
        </p:nvSpPr>
        <p:spPr>
          <a:xfrm rot="0">
            <a:off x="3442716" y="2377440"/>
            <a:ext cx="822960" cy="822960"/>
          </a:xfrm>
          <a:prstGeom prst="ellipse"/>
          <a:solidFill>
            <a:srgbClr val="FFFFFF"/>
          </a:solidFill>
          <a:ln w="12700" cmpd="sng" cap="flat">
            <a:noFill/>
            <a:prstDash val="solid"/>
            <a:miter/>
          </a:ln>
        </p:spPr>
      </p:sp>
      <p:pic>
        <p:nvPicPr>
          <p:cNvPr id="106" name="图片" descr="/home/claude/aiml_cloud/icon_cogs_dee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3625596" y="25603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7" name="矩形"/>
          <p:cNvSpPr>
            <a:spLocks/>
          </p:cNvSpPr>
          <p:nvPr/>
        </p:nvSpPr>
        <p:spPr>
          <a:xfrm rot="0">
            <a:off x="3031236" y="3337560"/>
            <a:ext cx="164592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Processing &amp;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Feature Prep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矩形"/>
          <p:cNvSpPr>
            <a:spLocks/>
          </p:cNvSpPr>
          <p:nvPr/>
        </p:nvSpPr>
        <p:spPr>
          <a:xfrm rot="0">
            <a:off x="3031236" y="3977640"/>
            <a:ext cx="16459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1" u="none" strike="noStrike" kern="1200" cap="none" spc="0" baseline="0">
                <a:solidFill>
                  <a:srgbClr val="CFE3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ETL pipelines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矩形"/>
          <p:cNvSpPr>
            <a:spLocks/>
          </p:cNvSpPr>
          <p:nvPr/>
        </p:nvSpPr>
        <p:spPr>
          <a:xfrm rot="0">
            <a:off x="4338828" y="2057400"/>
            <a:ext cx="347472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0" name="矩形"/>
          <p:cNvSpPr>
            <a:spLocks/>
          </p:cNvSpPr>
          <p:nvPr/>
        </p:nvSpPr>
        <p:spPr>
          <a:xfrm rot="0">
            <a:off x="4750308" y="3017519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➜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圆角矩形"/>
          <p:cNvSpPr>
            <a:spLocks/>
          </p:cNvSpPr>
          <p:nvPr/>
        </p:nvSpPr>
        <p:spPr>
          <a:xfrm rot="0">
            <a:off x="5225796" y="2103120"/>
            <a:ext cx="1737360" cy="2285998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38100" dir="5400000">
              <a:srgbClr val="000000">
                <a:alpha val="24705"/>
              </a:srgbClr>
            </a:outerShdw>
          </a:effectLst>
        </p:spPr>
      </p:sp>
      <p:sp>
        <p:nvSpPr>
          <p:cNvPr id="112" name="椭圆"/>
          <p:cNvSpPr>
            <a:spLocks/>
          </p:cNvSpPr>
          <p:nvPr/>
        </p:nvSpPr>
        <p:spPr>
          <a:xfrm rot="0">
            <a:off x="5682996" y="2377440"/>
            <a:ext cx="822958" cy="822960"/>
          </a:xfrm>
          <a:prstGeom prst="ellipse"/>
          <a:solidFill>
            <a:srgbClr val="FFFFFF"/>
          </a:solidFill>
          <a:ln w="12700" cmpd="sng" cap="flat">
            <a:noFill/>
            <a:prstDash val="solid"/>
            <a:miter/>
          </a:ln>
        </p:spPr>
      </p:sp>
      <p:pic>
        <p:nvPicPr>
          <p:cNvPr id="113" name="图片" descr="/home/claude/aiml_cloud/icon_brain_dee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5865876" y="25603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4" name="矩形"/>
          <p:cNvSpPr>
            <a:spLocks/>
          </p:cNvSpPr>
          <p:nvPr/>
        </p:nvSpPr>
        <p:spPr>
          <a:xfrm rot="0">
            <a:off x="5271516" y="3337560"/>
            <a:ext cx="164592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Model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Training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 rot="0">
            <a:off x="5271516" y="3977640"/>
            <a:ext cx="16459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1" u="none" strike="noStrike" kern="1200" cap="none" spc="0" baseline="0">
                <a:solidFill>
                  <a:srgbClr val="CFE3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GPU/TPU clusters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6" name="矩形"/>
          <p:cNvSpPr>
            <a:spLocks/>
          </p:cNvSpPr>
          <p:nvPr/>
        </p:nvSpPr>
        <p:spPr>
          <a:xfrm rot="0">
            <a:off x="6579108" y="2057400"/>
            <a:ext cx="347471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矩形"/>
          <p:cNvSpPr>
            <a:spLocks/>
          </p:cNvSpPr>
          <p:nvPr/>
        </p:nvSpPr>
        <p:spPr>
          <a:xfrm rot="0">
            <a:off x="6990588" y="3017519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➜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8" name="圆角矩形"/>
          <p:cNvSpPr>
            <a:spLocks/>
          </p:cNvSpPr>
          <p:nvPr/>
        </p:nvSpPr>
        <p:spPr>
          <a:xfrm rot="0">
            <a:off x="7466076" y="2103120"/>
            <a:ext cx="1737360" cy="2285998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38100" dir="5400000">
              <a:srgbClr val="000000">
                <a:alpha val="24705"/>
              </a:srgbClr>
            </a:outerShdw>
          </a:effectLst>
        </p:spPr>
      </p:sp>
      <p:sp>
        <p:nvSpPr>
          <p:cNvPr id="119" name="椭圆"/>
          <p:cNvSpPr>
            <a:spLocks/>
          </p:cNvSpPr>
          <p:nvPr/>
        </p:nvSpPr>
        <p:spPr>
          <a:xfrm rot="0">
            <a:off x="7923276" y="2377440"/>
            <a:ext cx="822958" cy="822960"/>
          </a:xfrm>
          <a:prstGeom prst="ellipse"/>
          <a:solidFill>
            <a:srgbClr val="FFFFFF"/>
          </a:solidFill>
          <a:ln w="12700" cmpd="sng" cap="flat">
            <a:noFill/>
            <a:prstDash val="solid"/>
            <a:miter/>
          </a:ln>
        </p:spPr>
      </p:sp>
      <p:pic>
        <p:nvPicPr>
          <p:cNvPr id="120" name="图片" descr="/home/claude/aiml_cloud/icon_cloud_dee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106156" y="25603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1" name="矩形"/>
          <p:cNvSpPr>
            <a:spLocks/>
          </p:cNvSpPr>
          <p:nvPr/>
        </p:nvSpPr>
        <p:spPr>
          <a:xfrm rot="0">
            <a:off x="7511796" y="3337560"/>
            <a:ext cx="164592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Model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Deployment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2" name="矩形"/>
          <p:cNvSpPr>
            <a:spLocks/>
          </p:cNvSpPr>
          <p:nvPr/>
        </p:nvSpPr>
        <p:spPr>
          <a:xfrm rot="0">
            <a:off x="7511796" y="3977640"/>
            <a:ext cx="16459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1" u="none" strike="noStrike" kern="1200" cap="none" spc="0" baseline="0">
                <a:solidFill>
                  <a:srgbClr val="CFE3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API endpoint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矩形"/>
          <p:cNvSpPr>
            <a:spLocks/>
          </p:cNvSpPr>
          <p:nvPr/>
        </p:nvSpPr>
        <p:spPr>
          <a:xfrm rot="0">
            <a:off x="8819388" y="2057400"/>
            <a:ext cx="347471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4" name="矩形"/>
          <p:cNvSpPr>
            <a:spLocks/>
          </p:cNvSpPr>
          <p:nvPr/>
        </p:nvSpPr>
        <p:spPr>
          <a:xfrm rot="0">
            <a:off x="9230868" y="3017519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➜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5" name="圆角矩形"/>
          <p:cNvSpPr>
            <a:spLocks/>
          </p:cNvSpPr>
          <p:nvPr/>
        </p:nvSpPr>
        <p:spPr>
          <a:xfrm rot="0">
            <a:off x="9706356" y="2103120"/>
            <a:ext cx="1737359" cy="2285998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101600" dist="38100" dir="5400000">
              <a:srgbClr val="000000">
                <a:alpha val="24705"/>
              </a:srgbClr>
            </a:outerShdw>
          </a:effectLst>
        </p:spPr>
      </p:sp>
      <p:sp>
        <p:nvSpPr>
          <p:cNvPr id="126" name="椭圆"/>
          <p:cNvSpPr>
            <a:spLocks/>
          </p:cNvSpPr>
          <p:nvPr/>
        </p:nvSpPr>
        <p:spPr>
          <a:xfrm rot="0">
            <a:off x="10163556" y="2377440"/>
            <a:ext cx="822960" cy="822960"/>
          </a:xfrm>
          <a:prstGeom prst="ellipse"/>
          <a:solidFill>
            <a:srgbClr val="FFFFFF"/>
          </a:solidFill>
          <a:ln w="12700" cmpd="sng" cap="flat">
            <a:noFill/>
            <a:prstDash val="solid"/>
            <a:miter/>
          </a:ln>
        </p:spPr>
      </p:sp>
      <p:pic>
        <p:nvPicPr>
          <p:cNvPr id="127" name="图片" descr="/home/claude/aiml_cloud/icon_chart_deep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10346437" y="25603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8" name="矩形"/>
          <p:cNvSpPr>
            <a:spLocks/>
          </p:cNvSpPr>
          <p:nvPr/>
        </p:nvSpPr>
        <p:spPr>
          <a:xfrm rot="0">
            <a:off x="9752076" y="3337560"/>
            <a:ext cx="1645917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Monitoring &amp;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Feedback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9" name="矩形"/>
          <p:cNvSpPr>
            <a:spLocks/>
          </p:cNvSpPr>
          <p:nvPr/>
        </p:nvSpPr>
        <p:spPr>
          <a:xfrm rot="0">
            <a:off x="9752076" y="3977640"/>
            <a:ext cx="1645917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1" u="none" strike="noStrike" kern="1200" cap="none" spc="0" baseline="0">
                <a:solidFill>
                  <a:srgbClr val="CFE3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Drift, retraining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0" name="矩形"/>
          <p:cNvSpPr>
            <a:spLocks/>
          </p:cNvSpPr>
          <p:nvPr/>
        </p:nvSpPr>
        <p:spPr>
          <a:xfrm rot="0">
            <a:off x="11059668" y="2057400"/>
            <a:ext cx="347472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直线"/>
          <p:cNvSpPr>
            <a:spLocks/>
          </p:cNvSpPr>
          <p:nvPr/>
        </p:nvSpPr>
        <p:spPr>
          <a:xfrm rot="0">
            <a:off x="4174236" y="4709160"/>
            <a:ext cx="6720839" cy="0"/>
          </a:xfrm>
          <a:prstGeom prst="line"/>
          <a:noFill/>
          <a:ln w="25400" cmpd="sng" cap="flat">
            <a:solidFill>
              <a:srgbClr val="1C7293"/>
            </a:solidFill>
            <a:prstDash val="dash"/>
            <a:round/>
            <a:tailEnd type="triangle" w="med" len="med"/>
          </a:ln>
        </p:spPr>
      </p:sp>
      <p:sp>
        <p:nvSpPr>
          <p:cNvPr id="132" name="矩形"/>
          <p:cNvSpPr>
            <a:spLocks/>
          </p:cNvSpPr>
          <p:nvPr/>
        </p:nvSpPr>
        <p:spPr>
          <a:xfrm rot="0">
            <a:off x="4219956" y="4800600"/>
            <a:ext cx="7223757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9FB4C7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Continuous feedback loop retrains the model as new data arrives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矩形"/>
          <p:cNvSpPr>
            <a:spLocks/>
          </p:cNvSpPr>
          <p:nvPr/>
        </p:nvSpPr>
        <p:spPr>
          <a:xfrm rot="0">
            <a:off x="11521440" y="6473951"/>
            <a:ext cx="457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FB4C7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970249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矩形"/>
          <p:cNvSpPr>
            <a:spLocks/>
          </p:cNvSpPr>
          <p:nvPr/>
        </p:nvSpPr>
        <p:spPr>
          <a:xfrm rot="0">
            <a:off x="548640" y="411480"/>
            <a:ext cx="91440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Industry Relevance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圆角矩形"/>
          <p:cNvSpPr>
            <a:spLocks/>
          </p:cNvSpPr>
          <p:nvPr/>
        </p:nvSpPr>
        <p:spPr>
          <a:xfrm rot="0">
            <a:off x="548640" y="1600200"/>
            <a:ext cx="3520437" cy="2103119"/>
          </a:xfrm>
          <a:prstGeom prst="roundRect">
            <a:avLst>
              <a:gd name="adj" fmla="val 3476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138" name="椭圆"/>
          <p:cNvSpPr>
            <a:spLocks/>
          </p:cNvSpPr>
          <p:nvPr/>
        </p:nvSpPr>
        <p:spPr>
          <a:xfrm rot="0">
            <a:off x="777240" y="1828800"/>
            <a:ext cx="566928" cy="566928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39" name="图片" descr="/home/claude/aiml_cloud/icon_heartbeat_whit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14400" y="1965960"/>
            <a:ext cx="292608" cy="29260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0" name="矩形"/>
          <p:cNvSpPr>
            <a:spLocks/>
          </p:cNvSpPr>
          <p:nvPr/>
        </p:nvSpPr>
        <p:spPr>
          <a:xfrm rot="0">
            <a:off x="777240" y="2514600"/>
            <a:ext cx="306323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Healthcare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1" name="矩形"/>
          <p:cNvSpPr>
            <a:spLocks/>
          </p:cNvSpPr>
          <p:nvPr/>
        </p:nvSpPr>
        <p:spPr>
          <a:xfrm rot="0">
            <a:off x="777240" y="2898647"/>
            <a:ext cx="3063239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Cloud-hosted diagnostic models analyze scans and predict patient risk at scale.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2" name="圆角矩形"/>
          <p:cNvSpPr>
            <a:spLocks/>
          </p:cNvSpPr>
          <p:nvPr/>
        </p:nvSpPr>
        <p:spPr>
          <a:xfrm rot="0">
            <a:off x="4251960" y="1600200"/>
            <a:ext cx="3520440" cy="2103119"/>
          </a:xfrm>
          <a:prstGeom prst="roundRect">
            <a:avLst>
              <a:gd name="adj" fmla="val 3476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143" name="椭圆"/>
          <p:cNvSpPr>
            <a:spLocks/>
          </p:cNvSpPr>
          <p:nvPr/>
        </p:nvSpPr>
        <p:spPr>
          <a:xfrm rot="0">
            <a:off x="4480560" y="1828800"/>
            <a:ext cx="566928" cy="566928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144" name="图片" descr="/home/claude/aiml_cloud/icon_doll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4617720" y="1965960"/>
            <a:ext cx="292608" cy="29260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5" name="矩形"/>
          <p:cNvSpPr>
            <a:spLocks/>
          </p:cNvSpPr>
          <p:nvPr/>
        </p:nvSpPr>
        <p:spPr>
          <a:xfrm rot="0">
            <a:off x="4480560" y="2514600"/>
            <a:ext cx="30632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Finance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6" name="矩形"/>
          <p:cNvSpPr>
            <a:spLocks/>
          </p:cNvSpPr>
          <p:nvPr/>
        </p:nvSpPr>
        <p:spPr>
          <a:xfrm rot="0">
            <a:off x="4480560" y="2898647"/>
            <a:ext cx="306324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Real-time fraud detection and credit scoring run on managed ML pipelines.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7" name="圆角矩形"/>
          <p:cNvSpPr>
            <a:spLocks/>
          </p:cNvSpPr>
          <p:nvPr/>
        </p:nvSpPr>
        <p:spPr>
          <a:xfrm rot="0">
            <a:off x="7955280" y="1600200"/>
            <a:ext cx="3520438" cy="2103119"/>
          </a:xfrm>
          <a:prstGeom prst="roundRect">
            <a:avLst>
              <a:gd name="adj" fmla="val 3476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148" name="椭圆"/>
          <p:cNvSpPr>
            <a:spLocks/>
          </p:cNvSpPr>
          <p:nvPr/>
        </p:nvSpPr>
        <p:spPr>
          <a:xfrm rot="0">
            <a:off x="8183880" y="1828800"/>
            <a:ext cx="566928" cy="566928"/>
          </a:xfrm>
          <a:prstGeom prst="ellipse"/>
          <a:solidFill>
            <a:srgbClr val="21295C"/>
          </a:solidFill>
          <a:ln w="12700" cmpd="sng" cap="flat">
            <a:noFill/>
            <a:prstDash val="solid"/>
            <a:miter/>
          </a:ln>
        </p:spPr>
      </p:sp>
      <p:pic>
        <p:nvPicPr>
          <p:cNvPr id="149" name="图片" descr="/home/claude/aiml_cloud/icon_cart_whi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8321040" y="1965960"/>
            <a:ext cx="292606" cy="29260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0" name="矩形"/>
          <p:cNvSpPr>
            <a:spLocks/>
          </p:cNvSpPr>
          <p:nvPr/>
        </p:nvSpPr>
        <p:spPr>
          <a:xfrm rot="0">
            <a:off x="8183880" y="2514600"/>
            <a:ext cx="30632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Retail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1" name="矩形"/>
          <p:cNvSpPr>
            <a:spLocks/>
          </p:cNvSpPr>
          <p:nvPr/>
        </p:nvSpPr>
        <p:spPr>
          <a:xfrm rot="0">
            <a:off x="8183880" y="2898647"/>
            <a:ext cx="306324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Recommendation engines and demand forecasting personalize the shopping experience.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2" name="圆角矩形"/>
          <p:cNvSpPr>
            <a:spLocks/>
          </p:cNvSpPr>
          <p:nvPr/>
        </p:nvSpPr>
        <p:spPr>
          <a:xfrm rot="0">
            <a:off x="548640" y="3886200"/>
            <a:ext cx="3520437" cy="2103118"/>
          </a:xfrm>
          <a:prstGeom prst="roundRect">
            <a:avLst>
              <a:gd name="adj" fmla="val 3476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153" name="椭圆"/>
          <p:cNvSpPr>
            <a:spLocks/>
          </p:cNvSpPr>
          <p:nvPr/>
        </p:nvSpPr>
        <p:spPr>
          <a:xfrm rot="0">
            <a:off x="777240" y="4114800"/>
            <a:ext cx="566928" cy="566928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54" name="图片" descr="/home/claude/aiml_cloud/icon_industry_whit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914400" y="4251960"/>
            <a:ext cx="292608" cy="2926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5" name="矩形"/>
          <p:cNvSpPr>
            <a:spLocks/>
          </p:cNvSpPr>
          <p:nvPr/>
        </p:nvSpPr>
        <p:spPr>
          <a:xfrm rot="0">
            <a:off x="777240" y="4800600"/>
            <a:ext cx="3063239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Manufacturing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6" name="矩形"/>
          <p:cNvSpPr>
            <a:spLocks/>
          </p:cNvSpPr>
          <p:nvPr/>
        </p:nvSpPr>
        <p:spPr>
          <a:xfrm rot="0">
            <a:off x="777240" y="5184648"/>
            <a:ext cx="3063239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Predictive maintenance models flag equipment failure before it happens.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7" name="圆角矩形"/>
          <p:cNvSpPr>
            <a:spLocks/>
          </p:cNvSpPr>
          <p:nvPr/>
        </p:nvSpPr>
        <p:spPr>
          <a:xfrm rot="0">
            <a:off x="4251960" y="3886200"/>
            <a:ext cx="3520440" cy="2103118"/>
          </a:xfrm>
          <a:prstGeom prst="roundRect">
            <a:avLst>
              <a:gd name="adj" fmla="val 3476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158" name="椭圆"/>
          <p:cNvSpPr>
            <a:spLocks/>
          </p:cNvSpPr>
          <p:nvPr/>
        </p:nvSpPr>
        <p:spPr>
          <a:xfrm rot="0">
            <a:off x="4480560" y="4114800"/>
            <a:ext cx="566928" cy="566928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159" name="图片" descr="/home/claude/aiml_cloud/icon_network_whit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4617720" y="4251960"/>
            <a:ext cx="292608" cy="2926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60" name="矩形"/>
          <p:cNvSpPr>
            <a:spLocks/>
          </p:cNvSpPr>
          <p:nvPr/>
        </p:nvSpPr>
        <p:spPr>
          <a:xfrm rot="0">
            <a:off x="4480560" y="4800600"/>
            <a:ext cx="306324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Telecom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1" name="矩形"/>
          <p:cNvSpPr>
            <a:spLocks/>
          </p:cNvSpPr>
          <p:nvPr/>
        </p:nvSpPr>
        <p:spPr>
          <a:xfrm rot="0">
            <a:off x="4480560" y="5184648"/>
            <a:ext cx="3063240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Network optimization and churn prediction use streaming ML on cloud infra.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2" name="圆角矩形"/>
          <p:cNvSpPr>
            <a:spLocks/>
          </p:cNvSpPr>
          <p:nvPr/>
        </p:nvSpPr>
        <p:spPr>
          <a:xfrm rot="0">
            <a:off x="7955280" y="3886200"/>
            <a:ext cx="3520438" cy="2103118"/>
          </a:xfrm>
          <a:prstGeom prst="roundRect">
            <a:avLst>
              <a:gd name="adj" fmla="val 3476"/>
            </a:avLst>
          </a:prstGeom>
          <a:solidFill>
            <a:srgbClr val="F0F5F8"/>
          </a:solidFill>
          <a:ln w="12700" cmpd="sng" cap="flat">
            <a:noFill/>
            <a:prstDash val="solid"/>
            <a:miter/>
          </a:ln>
        </p:spPr>
      </p:sp>
      <p:sp>
        <p:nvSpPr>
          <p:cNvPr id="163" name="椭圆"/>
          <p:cNvSpPr>
            <a:spLocks/>
          </p:cNvSpPr>
          <p:nvPr/>
        </p:nvSpPr>
        <p:spPr>
          <a:xfrm rot="0">
            <a:off x="8183880" y="4114800"/>
            <a:ext cx="566928" cy="566928"/>
          </a:xfrm>
          <a:prstGeom prst="ellipse"/>
          <a:solidFill>
            <a:srgbClr val="21295C"/>
          </a:solidFill>
          <a:ln w="12700" cmpd="sng" cap="flat">
            <a:noFill/>
            <a:prstDash val="solid"/>
            <a:miter/>
          </a:ln>
        </p:spPr>
      </p:sp>
      <p:pic>
        <p:nvPicPr>
          <p:cNvPr id="164" name="图片" descr="/home/claude/aiml_cloud/icon_shield_whit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8321040" y="4251960"/>
            <a:ext cx="292606" cy="2926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65" name="矩形"/>
          <p:cNvSpPr>
            <a:spLocks/>
          </p:cNvSpPr>
          <p:nvPr/>
        </p:nvSpPr>
        <p:spPr>
          <a:xfrm rot="0">
            <a:off x="8183880" y="4800600"/>
            <a:ext cx="306324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Cybersecurity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6" name="矩形"/>
          <p:cNvSpPr>
            <a:spLocks/>
          </p:cNvSpPr>
          <p:nvPr/>
        </p:nvSpPr>
        <p:spPr>
          <a:xfrm rot="0">
            <a:off x="8183880" y="5184648"/>
            <a:ext cx="3063240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Anomaly-detection models trained in the cloud flag threats in real time.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11521440" y="6473951"/>
            <a:ext cx="457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6B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423897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"/>
          <p:cNvSpPr>
            <a:spLocks/>
          </p:cNvSpPr>
          <p:nvPr/>
        </p:nvSpPr>
        <p:spPr>
          <a:xfrm rot="0">
            <a:off x="548640" y="411480"/>
            <a:ext cx="91440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Real-World Use Case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1" name="圆角矩形"/>
          <p:cNvSpPr>
            <a:spLocks/>
          </p:cNvSpPr>
          <p:nvPr/>
        </p:nvSpPr>
        <p:spPr>
          <a:xfrm rot="0">
            <a:off x="548640" y="1600200"/>
            <a:ext cx="4114797" cy="4434838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 w="12700" cmpd="sng" cap="flat">
            <a:noFill/>
            <a:prstDash val="solid"/>
            <a:miter/>
          </a:ln>
        </p:spPr>
      </p:sp>
      <p:sp>
        <p:nvSpPr>
          <p:cNvPr id="172" name="椭圆"/>
          <p:cNvSpPr>
            <a:spLocks/>
          </p:cNvSpPr>
          <p:nvPr/>
        </p:nvSpPr>
        <p:spPr>
          <a:xfrm rot="0">
            <a:off x="868680" y="1920240"/>
            <a:ext cx="777240" cy="77724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73" name="图片" descr="/home/claude/aiml_cloud/icon_chart_whit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51560" y="2103120"/>
            <a:ext cx="411480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74" name="矩形"/>
          <p:cNvSpPr>
            <a:spLocks/>
          </p:cNvSpPr>
          <p:nvPr/>
        </p:nvSpPr>
        <p:spPr>
          <a:xfrm rot="0">
            <a:off x="868680" y="2834640"/>
            <a:ext cx="3474720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Netflix Recommendation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Engine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5" name="矩形"/>
          <p:cNvSpPr>
            <a:spLocks/>
          </p:cNvSpPr>
          <p:nvPr/>
        </p:nvSpPr>
        <p:spPr>
          <a:xfrm rot="0">
            <a:off x="868680" y="3657600"/>
            <a:ext cx="3520440" cy="12801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D7E4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Hosted on AWS cloud infrastructure, ML models personalize what over 300 million members see on their home screen.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矩形"/>
          <p:cNvSpPr>
            <a:spLocks/>
          </p:cNvSpPr>
          <p:nvPr/>
        </p:nvSpPr>
        <p:spPr>
          <a:xfrm rot="0">
            <a:off x="868680" y="5623560"/>
            <a:ext cx="34747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1" u="none" strike="noStrike" kern="1200" cap="none" spc="0" baseline="0">
                <a:solidFill>
                  <a:srgbClr val="9FB4C7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Public case study — AWS &amp; Netflix Technology Blog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7" name="椭圆"/>
          <p:cNvSpPr>
            <a:spLocks/>
          </p:cNvSpPr>
          <p:nvPr/>
        </p:nvSpPr>
        <p:spPr>
          <a:xfrm rot="0">
            <a:off x="4937760" y="1709928"/>
            <a:ext cx="502919" cy="502918"/>
          </a:xfrm>
          <a:prstGeom prst="ellipse"/>
          <a:solidFill>
            <a:srgbClr val="F2A541"/>
          </a:solidFill>
          <a:ln w="12700" cmpd="sng" cap="flat">
            <a:noFill/>
            <a:prstDash val="solid"/>
            <a:miter/>
          </a:ln>
        </p:spPr>
      </p:sp>
      <p:sp>
        <p:nvSpPr>
          <p:cNvPr id="178" name="矩形"/>
          <p:cNvSpPr>
            <a:spLocks/>
          </p:cNvSpPr>
          <p:nvPr/>
        </p:nvSpPr>
        <p:spPr>
          <a:xfrm rot="0">
            <a:off x="4937760" y="1709928"/>
            <a:ext cx="502919" cy="50291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5623560" y="1600200"/>
            <a:ext cx="585216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Collection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5623560" y="1965960"/>
            <a:ext cx="585216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Viewing history, ratings, and pauses stream into cloud data pipelines continuously.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椭圆"/>
          <p:cNvSpPr>
            <a:spLocks/>
          </p:cNvSpPr>
          <p:nvPr/>
        </p:nvSpPr>
        <p:spPr>
          <a:xfrm rot="0">
            <a:off x="4937760" y="2843784"/>
            <a:ext cx="502919" cy="502920"/>
          </a:xfrm>
          <a:prstGeom prst="ellipse"/>
          <a:solidFill>
            <a:srgbClr val="F2A541"/>
          </a:solidFill>
          <a:ln w="12700" cmpd="sng" cap="flat">
            <a:noFill/>
            <a:prstDash val="solid"/>
            <a:miter/>
          </a:ln>
        </p:spPr>
      </p:sp>
      <p:sp>
        <p:nvSpPr>
          <p:cNvPr id="182" name="矩形"/>
          <p:cNvSpPr>
            <a:spLocks/>
          </p:cNvSpPr>
          <p:nvPr/>
        </p:nvSpPr>
        <p:spPr>
          <a:xfrm rot="0">
            <a:off x="4937760" y="2843784"/>
            <a:ext cx="50291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3" name="矩形"/>
          <p:cNvSpPr>
            <a:spLocks/>
          </p:cNvSpPr>
          <p:nvPr/>
        </p:nvSpPr>
        <p:spPr>
          <a:xfrm rot="0">
            <a:off x="5623560" y="2734056"/>
            <a:ext cx="585216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Model Training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矩形"/>
          <p:cNvSpPr>
            <a:spLocks/>
          </p:cNvSpPr>
          <p:nvPr/>
        </p:nvSpPr>
        <p:spPr>
          <a:xfrm rot="0">
            <a:off x="5623560" y="3099815"/>
            <a:ext cx="5852160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ML models train on scalable cloud compute to learn viewing patterns per user segment.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椭圆"/>
          <p:cNvSpPr>
            <a:spLocks/>
          </p:cNvSpPr>
          <p:nvPr/>
        </p:nvSpPr>
        <p:spPr>
          <a:xfrm rot="0">
            <a:off x="4937760" y="3977640"/>
            <a:ext cx="502919" cy="502920"/>
          </a:xfrm>
          <a:prstGeom prst="ellipse"/>
          <a:solidFill>
            <a:srgbClr val="F2A541"/>
          </a:solidFill>
          <a:ln w="12700" cmpd="sng" cap="flat">
            <a:noFill/>
            <a:prstDash val="solid"/>
            <a:miter/>
          </a:ln>
        </p:spPr>
      </p:sp>
      <p:sp>
        <p:nvSpPr>
          <p:cNvPr id="186" name="矩形"/>
          <p:cNvSpPr>
            <a:spLocks/>
          </p:cNvSpPr>
          <p:nvPr/>
        </p:nvSpPr>
        <p:spPr>
          <a:xfrm rot="0">
            <a:off x="4937760" y="3977640"/>
            <a:ext cx="50291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7" name="矩形"/>
          <p:cNvSpPr>
            <a:spLocks/>
          </p:cNvSpPr>
          <p:nvPr/>
        </p:nvSpPr>
        <p:spPr>
          <a:xfrm rot="0">
            <a:off x="5623560" y="3867912"/>
            <a:ext cx="585216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Real-Time Serving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8" name="矩形"/>
          <p:cNvSpPr>
            <a:spLocks/>
          </p:cNvSpPr>
          <p:nvPr/>
        </p:nvSpPr>
        <p:spPr>
          <a:xfrm rot="0">
            <a:off x="5623560" y="4233672"/>
            <a:ext cx="5852160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Trained models are deployed behind APIs that rank titles the instant a member opens the app.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9" name="椭圆"/>
          <p:cNvSpPr>
            <a:spLocks/>
          </p:cNvSpPr>
          <p:nvPr/>
        </p:nvSpPr>
        <p:spPr>
          <a:xfrm rot="0">
            <a:off x="4937760" y="5111496"/>
            <a:ext cx="502919" cy="502919"/>
          </a:xfrm>
          <a:prstGeom prst="ellipse"/>
          <a:solidFill>
            <a:srgbClr val="F2A541"/>
          </a:solidFill>
          <a:ln w="12700" cmpd="sng" cap="flat">
            <a:noFill/>
            <a:prstDash val="solid"/>
            <a:miter/>
          </a:ln>
        </p:spPr>
      </p:sp>
      <p:sp>
        <p:nvSpPr>
          <p:cNvPr id="190" name="矩形"/>
          <p:cNvSpPr>
            <a:spLocks/>
          </p:cNvSpPr>
          <p:nvPr/>
        </p:nvSpPr>
        <p:spPr>
          <a:xfrm rot="0">
            <a:off x="4937760" y="5111496"/>
            <a:ext cx="502919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1" name="矩形"/>
          <p:cNvSpPr>
            <a:spLocks/>
          </p:cNvSpPr>
          <p:nvPr/>
        </p:nvSpPr>
        <p:spPr>
          <a:xfrm rot="0">
            <a:off x="5623560" y="5001768"/>
            <a:ext cx="585216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Measured Impact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2" name="矩形"/>
          <p:cNvSpPr>
            <a:spLocks/>
          </p:cNvSpPr>
          <p:nvPr/>
        </p:nvSpPr>
        <p:spPr>
          <a:xfrm rot="0">
            <a:off x="5623560" y="5367528"/>
            <a:ext cx="585216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3341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Personalized recommendations are estimated to save Netflix over $1B annually in retained subscribers.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3" name="矩形"/>
          <p:cNvSpPr>
            <a:spLocks/>
          </p:cNvSpPr>
          <p:nvPr/>
        </p:nvSpPr>
        <p:spPr>
          <a:xfrm rot="0">
            <a:off x="11521440" y="6473951"/>
            <a:ext cx="457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6B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351155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椭圆"/>
          <p:cNvSpPr>
            <a:spLocks/>
          </p:cNvSpPr>
          <p:nvPr/>
        </p:nvSpPr>
        <p:spPr>
          <a:xfrm rot="0">
            <a:off x="-1097280" y="4389120"/>
            <a:ext cx="4206240" cy="4206239"/>
          </a:xfrm>
          <a:prstGeom prst="ellipse"/>
          <a:solidFill>
            <a:srgbClr val="065A82">
              <a:alpha val="45000"/>
            </a:srgbClr>
          </a:solidFill>
          <a:ln w="12700" cmpd="sng" cap="flat">
            <a:noFill/>
            <a:prstDash val="solid"/>
            <a:miter/>
          </a:ln>
        </p:spPr>
      </p:sp>
      <p:sp>
        <p:nvSpPr>
          <p:cNvPr id="197" name="矩形"/>
          <p:cNvSpPr>
            <a:spLocks/>
          </p:cNvSpPr>
          <p:nvPr/>
        </p:nvSpPr>
        <p:spPr>
          <a:xfrm rot="0">
            <a:off x="640080" y="548640"/>
            <a:ext cx="73152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Conclusion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8" name="椭圆"/>
          <p:cNvSpPr>
            <a:spLocks/>
          </p:cNvSpPr>
          <p:nvPr/>
        </p:nvSpPr>
        <p:spPr>
          <a:xfrm rot="0">
            <a:off x="658368" y="1517904"/>
            <a:ext cx="146304" cy="146301"/>
          </a:xfrm>
          <a:prstGeom prst="ellipse"/>
          <a:solidFill>
            <a:srgbClr val="F2A541"/>
          </a:solidFill>
          <a:ln w="12700" cmpd="sng" cap="flat">
            <a:noFill/>
            <a:prstDash val="solid"/>
            <a:miter/>
          </a:ln>
        </p:spPr>
      </p:sp>
      <p:sp>
        <p:nvSpPr>
          <p:cNvPr id="199" name="矩形"/>
          <p:cNvSpPr>
            <a:spLocks/>
          </p:cNvSpPr>
          <p:nvPr/>
        </p:nvSpPr>
        <p:spPr>
          <a:xfrm rot="0">
            <a:off x="960120" y="1389888"/>
            <a:ext cx="996696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E4EC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AI/ML cloud services abstract away infrastructure, letting teams focus on models and outcomes.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椭圆"/>
          <p:cNvSpPr>
            <a:spLocks/>
          </p:cNvSpPr>
          <p:nvPr/>
        </p:nvSpPr>
        <p:spPr>
          <a:xfrm rot="0">
            <a:off x="658368" y="2176272"/>
            <a:ext cx="146304" cy="146301"/>
          </a:xfrm>
          <a:prstGeom prst="ellipse"/>
          <a:solidFill>
            <a:srgbClr val="F2A541"/>
          </a:solidFill>
          <a:ln w="12700" cmpd="sng" cap="flat">
            <a:noFill/>
            <a:prstDash val="solid"/>
            <a:miter/>
          </a:ln>
        </p:spPr>
      </p:sp>
      <p:sp>
        <p:nvSpPr>
          <p:cNvPr id="201" name="矩形"/>
          <p:cNvSpPr>
            <a:spLocks/>
          </p:cNvSpPr>
          <p:nvPr/>
        </p:nvSpPr>
        <p:spPr>
          <a:xfrm rot="0">
            <a:off x="960120" y="2048255"/>
            <a:ext cx="996696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E4EC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layered architecture — from raw compute to ready-made APIs — fits both custom builders and fast adopters.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2" name="椭圆"/>
          <p:cNvSpPr>
            <a:spLocks/>
          </p:cNvSpPr>
          <p:nvPr/>
        </p:nvSpPr>
        <p:spPr>
          <a:xfrm rot="0">
            <a:off x="658368" y="2834640"/>
            <a:ext cx="146304" cy="146303"/>
          </a:xfrm>
          <a:prstGeom prst="ellipse"/>
          <a:solidFill>
            <a:srgbClr val="F2A541"/>
          </a:solidFill>
          <a:ln w="12700" cmpd="sng" cap="flat">
            <a:noFill/>
            <a:prstDash val="solid"/>
            <a:miter/>
          </a:ln>
        </p:spPr>
      </p:sp>
      <p:sp>
        <p:nvSpPr>
          <p:cNvPr id="203" name="矩形"/>
          <p:cNvSpPr>
            <a:spLocks/>
          </p:cNvSpPr>
          <p:nvPr/>
        </p:nvSpPr>
        <p:spPr>
          <a:xfrm rot="0">
            <a:off x="960120" y="2706624"/>
            <a:ext cx="9966960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E4EC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Every major industry, from healthcare to retail, now depends on cloud-hosted AI/ML for real-time decisions.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4" name="椭圆"/>
          <p:cNvSpPr>
            <a:spLocks/>
          </p:cNvSpPr>
          <p:nvPr/>
        </p:nvSpPr>
        <p:spPr>
          <a:xfrm rot="0">
            <a:off x="658368" y="3493008"/>
            <a:ext cx="146304" cy="146303"/>
          </a:xfrm>
          <a:prstGeom prst="ellipse"/>
          <a:solidFill>
            <a:srgbClr val="F2A541"/>
          </a:solidFill>
          <a:ln w="12700" cmpd="sng" cap="flat">
            <a:noFill/>
            <a:prstDash val="solid"/>
            <a:miter/>
          </a:ln>
        </p:spPr>
      </p:sp>
      <p:sp>
        <p:nvSpPr>
          <p:cNvPr id="205" name="矩形"/>
          <p:cNvSpPr>
            <a:spLocks/>
          </p:cNvSpPr>
          <p:nvPr/>
        </p:nvSpPr>
        <p:spPr>
          <a:xfrm rot="0">
            <a:off x="960120" y="3364992"/>
            <a:ext cx="996696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E4ECF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Netflix's recommendation system shows how cloud-scale ML directly drives business value.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6" name="圆角矩形"/>
          <p:cNvSpPr>
            <a:spLocks/>
          </p:cNvSpPr>
          <p:nvPr/>
        </p:nvSpPr>
        <p:spPr>
          <a:xfrm rot="0">
            <a:off x="640080" y="4325112"/>
            <a:ext cx="10881359" cy="1417319"/>
          </a:xfrm>
          <a:prstGeom prst="roundRect">
            <a:avLst>
              <a:gd name="adj" fmla="val 6453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207" name="图片" descr="/home/claude/aiml_cloud/icon_bulb_amber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14400" y="4645152"/>
            <a:ext cx="777240" cy="77724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08" name="矩形"/>
          <p:cNvSpPr>
            <a:spLocks/>
          </p:cNvSpPr>
          <p:nvPr/>
        </p:nvSpPr>
        <p:spPr>
          <a:xfrm rot="0">
            <a:off x="1920240" y="4416552"/>
            <a:ext cx="9326880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2A54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Takeaway:  </a:t>
            </a: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cloud doesn't just host AI/ML — it makes AI/ML economically and technically feasible at a scale no single organization could build alone.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9" name="矩形"/>
          <p:cNvSpPr>
            <a:spLocks/>
          </p:cNvSpPr>
          <p:nvPr/>
        </p:nvSpPr>
        <p:spPr>
          <a:xfrm rot="0">
            <a:off x="11521440" y="6473951"/>
            <a:ext cx="457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FB4C7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624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13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subject>PptxGenJS Presentation</dc:subject>
  <dc:creator>PptxGenJS</dc:creator>
  <cp:lastModifiedBy>root</cp:lastModifiedBy>
  <cp:revision>1</cp:revision>
  <dcterms:created xsi:type="dcterms:W3CDTF">2026-07-14T04:00:35Z</dcterms:created>
  <dcterms:modified xsi:type="dcterms:W3CDTF">2026-07-14T02:16:31Z</dcterms:modified>
</cp:coreProperties>
</file>